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C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27432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F0A94F"/>
                </a:solidFill>
                <a:latin typeface="Microsoft YaHei"/>
              </a:rPr>
              <a:t>传感器与检测技术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2880360" cy="12801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压力传感器原理及应用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0"/>
            <a:ext cx="2788920" cy="11887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压力测量、温漂补偿与高度应用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069080"/>
            <a:ext cx="1600200" cy="384048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4142232"/>
            <a:ext cx="132588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103B43"/>
                </a:solidFill>
                <a:latin typeface="Microsoft YaHei"/>
              </a:rPr>
              <a:t>讲授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09160"/>
            <a:ext cx="237744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0">
                <a:solidFill>
                  <a:srgbClr val="EFF4F4"/>
                </a:solidFill>
                <a:latin typeface="Microsoft YaHei"/>
              </a:rPr>
              <a:t>第 12 讲</a:t>
            </a:r>
          </a:p>
        </p:txBody>
      </p:sp>
      <p:pic>
        <p:nvPicPr>
          <p:cNvPr id="10" name="Picture 9" descr="lecture-12-pressure-sens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502920"/>
            <a:ext cx="8092440" cy="5577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977639" y="6199632"/>
            <a:ext cx="722376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566268"/>
                </a:solidFill>
                <a:latin typeface="Microsoft YaHei"/>
              </a:rPr>
              <a:t>官方授课计划驱动 | 图文并茂版课程课件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压力传感器原理及应用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讲授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493776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学习目标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5303520" cy="3520440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32E33"/>
                </a:solidFill>
                <a:latin typeface="Microsoft YaHei"/>
              </a:rPr>
              <a:t>理解压阻式与电容式压力测量基本原理。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32E33"/>
                </a:solidFill>
                <a:latin typeface="Microsoft YaHei"/>
              </a:rPr>
              <a:t>掌握温度补偿、非线性补偿和高度换算思路。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32E33"/>
                </a:solidFill>
                <a:latin typeface="Microsoft YaHei"/>
              </a:rPr>
              <a:t>建立压力传感器在高度估计中的位置。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051560"/>
            <a:ext cx="49834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1298448"/>
            <a:ext cx="44805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185560"/>
                </a:solidFill>
                <a:latin typeface="Microsoft YaHei"/>
              </a:rPr>
              <a:t>能力地图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12280" y="1920240"/>
            <a:ext cx="4160520" cy="658368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86016" y="1993392"/>
            <a:ext cx="91440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F0A94F"/>
                </a:solidFill>
                <a:latin typeface="Microsoft YaHei"/>
              </a:rPr>
              <a:t>理解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1975104"/>
            <a:ext cx="28803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232E33"/>
                </a:solidFill>
                <a:latin typeface="Microsoft YaHei"/>
              </a:rPr>
              <a:t>理解压阻式与电容式压力测量基本原理。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2834640"/>
            <a:ext cx="4160520" cy="658368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86016" y="2907792"/>
            <a:ext cx="91440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F0A94F"/>
                </a:solidFill>
                <a:latin typeface="Microsoft YaHei"/>
              </a:rPr>
              <a:t>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2889504"/>
            <a:ext cx="28803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232E33"/>
                </a:solidFill>
                <a:latin typeface="Microsoft YaHei"/>
              </a:rPr>
              <a:t>掌握温度补偿、非线性补偿和高度换算思路。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12280" y="3749039"/>
            <a:ext cx="4160520" cy="658368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86016" y="3822191"/>
            <a:ext cx="91440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F0A94F"/>
                </a:solidFill>
                <a:latin typeface="Microsoft YaHei"/>
              </a:rPr>
              <a:t>实施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3803903"/>
            <a:ext cx="28803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232E33"/>
                </a:solidFill>
                <a:latin typeface="Microsoft YaHei"/>
              </a:rPr>
              <a:t>建立压力传感器在高度估计中的位置。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压力传感器原理及应用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讲授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理论基础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28803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90472"/>
            <a:ext cx="266090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概念框架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856232"/>
            <a:ext cx="2734056" cy="3694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压力-电信号转换机理。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1417320"/>
            <a:ext cx="28803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87367" y="1490472"/>
            <a:ext cx="266090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关键机理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50791" y="1856232"/>
            <a:ext cx="2734056" cy="3694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传感器内置补偿参数与外部标定。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1417320"/>
            <a:ext cx="28803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16368" y="1490472"/>
            <a:ext cx="266090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工程约束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79792" y="1856232"/>
            <a:ext cx="2734056" cy="3694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气压与高度关系及应用边界。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压力传感器原理及应用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讲授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工作原理 / 实施流程</a:t>
            </a:r>
          </a:p>
        </p:txBody>
      </p:sp>
      <p:sp>
        <p:nvSpPr>
          <p:cNvPr id="7" name="Chevron 6"/>
          <p:cNvSpPr/>
          <p:nvPr/>
        </p:nvSpPr>
        <p:spPr>
          <a:xfrm>
            <a:off x="640080" y="2011680"/>
            <a:ext cx="1920240" cy="1051560"/>
          </a:xfrm>
          <a:prstGeom prst="chevron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12848"/>
            <a:ext cx="1645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1. 读取原始压力和温度数据。</a:t>
            </a:r>
          </a:p>
        </p:txBody>
      </p:sp>
      <p:sp>
        <p:nvSpPr>
          <p:cNvPr id="9" name="Chevron 8"/>
          <p:cNvSpPr/>
          <p:nvPr/>
        </p:nvSpPr>
        <p:spPr>
          <a:xfrm>
            <a:off x="3154680" y="2011680"/>
            <a:ext cx="1920240" cy="1051560"/>
          </a:xfrm>
          <a:prstGeom prst="chevron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2212848"/>
            <a:ext cx="1645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2. 应用补偿模型得到物理量。</a:t>
            </a:r>
          </a:p>
        </p:txBody>
      </p:sp>
      <p:sp>
        <p:nvSpPr>
          <p:cNvPr id="11" name="Chevron 10"/>
          <p:cNvSpPr/>
          <p:nvPr/>
        </p:nvSpPr>
        <p:spPr>
          <a:xfrm>
            <a:off x="5669280" y="2011680"/>
            <a:ext cx="1920240" cy="1051560"/>
          </a:xfrm>
          <a:prstGeom prst="chevron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06440" y="2212848"/>
            <a:ext cx="1645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3. 转换为相对高度或海拔。</a:t>
            </a:r>
          </a:p>
        </p:txBody>
      </p:sp>
      <p:sp>
        <p:nvSpPr>
          <p:cNvPr id="13" name="Chevron 12"/>
          <p:cNvSpPr/>
          <p:nvPr/>
        </p:nvSpPr>
        <p:spPr>
          <a:xfrm>
            <a:off x="8183879" y="2011680"/>
            <a:ext cx="1920240" cy="1051560"/>
          </a:xfrm>
          <a:prstGeom prst="chevron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212848"/>
            <a:ext cx="1645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4. 结合滤波抑制动态噪声。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40480"/>
            <a:ext cx="10789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69080"/>
            <a:ext cx="1024128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32E33"/>
                </a:solidFill>
                <a:latin typeface="Microsoft YaHei"/>
              </a:rPr>
              <a:t>课堂提示：流程图用于帮助学生把“原理、实现、验证”连成闭环，授课时应强调每一步对应的数据证据和常见失败点。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压力传感器原理及应用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讲授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关键指标与 Datasheet 关注点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63040"/>
          <a:ext cx="69494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6480"/>
                <a:gridCol w="2316480"/>
                <a:gridCol w="2316480"/>
              </a:tblGrid>
              <a:tr h="713232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  <a:latin typeface="Microsoft YaHei"/>
                        </a:rPr>
                        <a:t>指标</a:t>
                      </a:r>
                    </a:p>
                  </a:txBody>
                  <a:tcPr>
                    <a:solidFill>
                      <a:srgbClr val="1855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  <a:latin typeface="Microsoft YaHei"/>
                        </a:rPr>
                        <a:t>解释</a:t>
                      </a:r>
                    </a:p>
                  </a:txBody>
                  <a:tcPr>
                    <a:solidFill>
                      <a:srgbClr val="1855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  <a:latin typeface="Microsoft YaHei"/>
                        </a:rPr>
                        <a:t>工程意义</a:t>
                      </a:r>
                    </a:p>
                  </a:txBody>
                  <a:tcPr>
                    <a:solidFill>
                      <a:srgbClr val="18556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压力精度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静态压力误差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决定高度分辨率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温漂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温度变化下偏差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决定跨环境性能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分辨率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微小变化可检测性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决定高度细节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响应速度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动态变化跟踪能力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影响控制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955279" y="1463040"/>
            <a:ext cx="34290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1691640"/>
            <a:ext cx="288036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F0A94F"/>
                </a:solidFill>
                <a:latin typeface="Microsoft YaHei"/>
              </a:rPr>
              <a:t>教师提醒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148840"/>
            <a:ext cx="2834640" cy="2468880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不要只解释参数含义，要解释它如何影响系统级结果。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鼓励学生把手册参数与后续实验的测量结果对应起来。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强调典型值、最大值和测试条件的区别。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压力传感器原理及应用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讲授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工程案例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4754880" cy="4389120"/>
          </a:xfrm>
          <a:prstGeom prst="round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402336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0A94F"/>
                </a:solidFill>
                <a:latin typeface="Microsoft YaHei"/>
              </a:rPr>
              <a:t>案例：室内楼层高度检测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423160"/>
            <a:ext cx="4069080" cy="2606040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相对高度估计往往比绝对海拔更有实用价值。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温漂与空调气流都可能污染实验数据。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与 IMU 融合可补偿动态响应不足。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6440" y="1463040"/>
            <a:ext cx="2514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16168" y="1536192"/>
            <a:ext cx="229514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输入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9592" y="1901952"/>
            <a:ext cx="2368296" cy="1408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压力-电信号转换机理。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传感器内置补偿参数与外部标定。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1463040"/>
            <a:ext cx="2514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05088" y="1536192"/>
            <a:ext cx="229514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输出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8512" y="1901952"/>
            <a:ext cx="2368296" cy="1408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阅读 MS 系列器件手册。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整理压力-高度转换关系。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06440" y="3657600"/>
            <a:ext cx="5303520" cy="2194560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16168" y="3730752"/>
            <a:ext cx="508406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可视化讲授建议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9592" y="4096512"/>
            <a:ext cx="5157216" cy="168249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在这一页配合板书或实物，帮助学生把抽象算法映射到真实系统。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尽量给出一个量化结果，如误差下降、轨迹变稳、响应加快。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压力传感器原理及应用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讲授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实践路径与课堂活动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697480" cy="411480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20116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准备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2148840" cy="2468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阅读 MS 系列器件手册。</a:t>
            </a:r>
          </a:p>
        </p:txBody>
      </p:sp>
      <p:sp>
        <p:nvSpPr>
          <p:cNvPr id="10" name="Oval 9"/>
          <p:cNvSpPr/>
          <p:nvPr/>
        </p:nvSpPr>
        <p:spPr>
          <a:xfrm>
            <a:off x="2743200" y="17830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43784" y="1865376"/>
            <a:ext cx="237744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F0A94F"/>
                </a:solidFill>
                <a:latin typeface="Microsoft YaHei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7639" y="1645920"/>
            <a:ext cx="2697480" cy="4114800"/>
          </a:xfrm>
          <a:prstGeom prst="round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0520" y="1874519"/>
            <a:ext cx="20116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468880"/>
            <a:ext cx="2148840" cy="2468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整理压力-高度转换关系。</a:t>
            </a:r>
          </a:p>
        </p:txBody>
      </p:sp>
      <p:sp>
        <p:nvSpPr>
          <p:cNvPr id="15" name="Oval 14"/>
          <p:cNvSpPr/>
          <p:nvPr/>
        </p:nvSpPr>
        <p:spPr>
          <a:xfrm>
            <a:off x="5989320" y="17830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9904" y="1865376"/>
            <a:ext cx="237744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185560"/>
                </a:solidFill>
                <a:latin typeface="Microsoft YaHei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1645920"/>
            <a:ext cx="2697480" cy="411480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1874519"/>
            <a:ext cx="20116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沉淀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468880"/>
            <a:ext cx="2148840" cy="2468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为实验六准备滤波模型。</a:t>
            </a:r>
          </a:p>
        </p:txBody>
      </p:sp>
      <p:sp>
        <p:nvSpPr>
          <p:cNvPr id="20" name="Oval 19"/>
          <p:cNvSpPr/>
          <p:nvPr/>
        </p:nvSpPr>
        <p:spPr>
          <a:xfrm>
            <a:off x="9235440" y="17830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36024" y="1865376"/>
            <a:ext cx="237744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F0A94F"/>
                </a:solidFill>
                <a:latin typeface="Microsoft YaHei"/>
              </a:rPr>
              <a:t>3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压力传感器原理及应用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讲授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45720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总结与作业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50749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536192"/>
            <a:ext cx="485546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本讲关键结论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901952"/>
            <a:ext cx="4928616" cy="396849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理解压阻式与电容式压力测量基本原理。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掌握温度补偿、非线性补偿和高度换算思路。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建立压力传感器在高度估计中的位置。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463040"/>
            <a:ext cx="5074920" cy="4480560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6208" y="1536192"/>
            <a:ext cx="485546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课后任务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9632" y="1901952"/>
            <a:ext cx="4928616" cy="396849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提交器件手册精读摘要。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说明压力高度估计的一个局限。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