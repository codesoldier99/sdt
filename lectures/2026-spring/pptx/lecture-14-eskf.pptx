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C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F0A94F"/>
                </a:solidFill>
                <a:latin typeface="Microsoft YaHei"/>
              </a:rPr>
              <a:t>传感器与检测技术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2880360" cy="12801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数据融合（一）：ESKF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0"/>
            <a:ext cx="2788920" cy="11887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误差状态卡尔曼滤波与姿态表示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069080"/>
            <a:ext cx="1600200" cy="384048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4142232"/>
            <a:ext cx="132588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09160"/>
            <a:ext cx="237744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0">
                <a:solidFill>
                  <a:srgbClr val="EFF4F4"/>
                </a:solidFill>
                <a:latin typeface="Microsoft YaHei"/>
              </a:rPr>
              <a:t>第 14 讲</a:t>
            </a:r>
          </a:p>
        </p:txBody>
      </p:sp>
      <p:pic>
        <p:nvPicPr>
          <p:cNvPr id="10" name="Picture 9" descr="lecture-14-esk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502920"/>
            <a:ext cx="8092440" cy="5577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977639" y="6199632"/>
            <a:ext cx="722376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66268"/>
                </a:solidFill>
                <a:latin typeface="Microsoft YaHei"/>
              </a:rPr>
              <a:t>官方授课计划驱动 | 图文并茂版课程课件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数据融合（一）：ESKF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49377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学习目标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5303520" cy="3520440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32E33"/>
                </a:solidFill>
                <a:latin typeface="Microsoft YaHei"/>
              </a:rPr>
              <a:t>理解 ESKF 相对 EKF 的建模优势。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32E33"/>
                </a:solidFill>
                <a:latin typeface="Microsoft YaHei"/>
              </a:rPr>
              <a:t>掌握误差状态、名义状态和观测更新的基本结构。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32E33"/>
                </a:solidFill>
                <a:latin typeface="Microsoft YaHei"/>
              </a:rPr>
              <a:t>理解 SO(3) 扰动模型在姿态估计中的必要性。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051560"/>
            <a:ext cx="49834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298448"/>
            <a:ext cx="44805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185560"/>
                </a:solidFill>
                <a:latin typeface="Microsoft YaHei"/>
              </a:rPr>
              <a:t>能力地图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1920240"/>
            <a:ext cx="4160520" cy="658368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6016" y="1993392"/>
            <a:ext cx="914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0A94F"/>
                </a:solidFill>
                <a:latin typeface="Microsoft YaHei"/>
              </a:rPr>
              <a:t>理解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975104"/>
            <a:ext cx="2880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32E33"/>
                </a:solidFill>
                <a:latin typeface="Microsoft YaHei"/>
              </a:rPr>
              <a:t>理解 ESKF 相对 EKF 的建模优势。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2834640"/>
            <a:ext cx="4160520" cy="658368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86016" y="2907792"/>
            <a:ext cx="914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0A94F"/>
                </a:solidFill>
                <a:latin typeface="Microsoft YaHei"/>
              </a:rPr>
              <a:t>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889504"/>
            <a:ext cx="2880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32E33"/>
                </a:solidFill>
                <a:latin typeface="Microsoft YaHei"/>
              </a:rPr>
              <a:t>掌握误差状态、名义状态和观测更新的基本结构。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3749039"/>
            <a:ext cx="4160520" cy="658368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6016" y="3822191"/>
            <a:ext cx="914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0A94F"/>
                </a:solidFill>
                <a:latin typeface="Microsoft YaHei"/>
              </a:rPr>
              <a:t>实施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3803903"/>
            <a:ext cx="2880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32E33"/>
                </a:solidFill>
                <a:latin typeface="Microsoft YaHei"/>
              </a:rPr>
              <a:t>理解 SO(3) 扰动模型在姿态估计中的必要性。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数据融合（一）：ESKF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理论基础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2880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90472"/>
            <a:ext cx="266090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概念框架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56232"/>
            <a:ext cx="2734056" cy="3694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KF、EKF、UKF 的角色与局限。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1417320"/>
            <a:ext cx="2880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87367" y="1490472"/>
            <a:ext cx="266090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关键机理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0791" y="1856232"/>
            <a:ext cx="2734056" cy="3694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名义状态与误差状态分离。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417320"/>
            <a:ext cx="2880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16368" y="1490472"/>
            <a:ext cx="266090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工程约束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9792" y="1856232"/>
            <a:ext cx="2734056" cy="3694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李群、李代数与小扰动更新。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数据融合（一）：ESKF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工作原理 / 实施流程</a:t>
            </a:r>
          </a:p>
        </p:txBody>
      </p:sp>
      <p:sp>
        <p:nvSpPr>
          <p:cNvPr id="7" name="Chevron 6"/>
          <p:cNvSpPr/>
          <p:nvPr/>
        </p:nvSpPr>
        <p:spPr>
          <a:xfrm>
            <a:off x="640080" y="2011680"/>
            <a:ext cx="1920240" cy="1051560"/>
          </a:xfrm>
          <a:prstGeom prst="chevron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1. 建立名义运动模型。</a:t>
            </a:r>
          </a:p>
        </p:txBody>
      </p:sp>
      <p:sp>
        <p:nvSpPr>
          <p:cNvPr id="9" name="Chevron 8"/>
          <p:cNvSpPr/>
          <p:nvPr/>
        </p:nvSpPr>
        <p:spPr>
          <a:xfrm>
            <a:off x="3154680" y="2011680"/>
            <a:ext cx="1920240" cy="1051560"/>
          </a:xfrm>
          <a:prstGeom prst="chevron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2. 传播误差协方差。</a:t>
            </a:r>
          </a:p>
        </p:txBody>
      </p:sp>
      <p:sp>
        <p:nvSpPr>
          <p:cNvPr id="11" name="Chevron 10"/>
          <p:cNvSpPr/>
          <p:nvPr/>
        </p:nvSpPr>
        <p:spPr>
          <a:xfrm>
            <a:off x="5669280" y="2011680"/>
            <a:ext cx="1920240" cy="1051560"/>
          </a:xfrm>
          <a:prstGeom prst="chevron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64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3. 利用观测进行误差修正。</a:t>
            </a:r>
          </a:p>
        </p:txBody>
      </p:sp>
      <p:sp>
        <p:nvSpPr>
          <p:cNvPr id="13" name="Chevron 12"/>
          <p:cNvSpPr/>
          <p:nvPr/>
        </p:nvSpPr>
        <p:spPr>
          <a:xfrm>
            <a:off x="8183879" y="2011680"/>
            <a:ext cx="1920240" cy="1051560"/>
          </a:xfrm>
          <a:prstGeom prst="chevron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4. 把误差注入名义状态。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10789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69080"/>
            <a:ext cx="1024128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2E33"/>
                </a:solidFill>
                <a:latin typeface="Microsoft YaHei"/>
              </a:rPr>
              <a:t>课堂提示：流程图用于帮助学生把“原理、实现、验证”连成闭环，授课时应强调每一步对应的数据证据和常见失败点。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数据融合（一）：ESKF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关键指标与 Datasheet 关注点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63040"/>
          <a:ext cx="69494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/>
                <a:gridCol w="2316480"/>
                <a:gridCol w="2316480"/>
              </a:tblGrid>
              <a:tr h="713232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>
                    <a:solidFill>
                      <a:srgbClr val="185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icrosoft YaHei"/>
                        </a:rPr>
                        <a:t>解释</a:t>
                      </a:r>
                    </a:p>
                  </a:txBody>
                  <a:tcPr>
                    <a:solidFill>
                      <a:srgbClr val="185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icrosoft YaHei"/>
                        </a:rPr>
                        <a:t>工程意义</a:t>
                      </a:r>
                    </a:p>
                  </a:txBody>
                  <a:tcPr>
                    <a:solidFill>
                      <a:srgbClr val="18556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姿态误差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估计精度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核心输出指标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一致性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协方差与真实误差匹配度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决定可信度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数值稳定性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长时运行表现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决定工程可用性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实时性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计算复杂度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决定嵌入式部署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955279" y="146304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691640"/>
            <a:ext cx="28803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F0A94F"/>
                </a:solidFill>
                <a:latin typeface="Microsoft YaHei"/>
              </a:rPr>
              <a:t>教师提醒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148840"/>
            <a:ext cx="2834640" cy="2468880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不要只解释参数含义，要解释它如何影响系统级结果。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鼓励学生把手册参数与后续实验的测量结果对应起来。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强调典型值、最大值和测试条件的区别。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数据融合（一）：ESKF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工程案例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4754880" cy="4389120"/>
          </a:xfrm>
          <a:prstGeom prst="round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402336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0A94F"/>
                </a:solidFill>
                <a:latin typeface="Microsoft YaHei"/>
              </a:rPr>
              <a:t>案例：IMU 与外部观测联合姿态估计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23160"/>
            <a:ext cx="4069080" cy="2606040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ESKF 更适合处理姿态这类非线性状态。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误差注入机制有助于保持数值稳定。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观测模型设计决定收敛速度与精度。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146304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16168" y="1536192"/>
            <a:ext cx="229514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输入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9592" y="1901952"/>
            <a:ext cx="2368296" cy="1408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KF、EKF、UKF 的角色与局限。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名义状态与误差状态分离。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146304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05088" y="1536192"/>
            <a:ext cx="229514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输出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1901952"/>
            <a:ext cx="2368296" cy="1408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推导误差状态方程。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写出 SO(3) 小扰动更新关系。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3657600"/>
            <a:ext cx="5303520" cy="2194560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16168" y="3730752"/>
            <a:ext cx="508406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可视化讲授建议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9592" y="4096512"/>
            <a:ext cx="5157216" cy="168249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在这一页配合板书或实物，帮助学生把抽象算法映射到真实系统。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尽量给出一个量化结果，如误差下降、轨迹变稳、响应加快。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数据融合（一）：ESKF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实践路径与课堂活动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697480" cy="411480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2011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准备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2148840" cy="2468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推导误差状态方程。</a:t>
            </a:r>
          </a:p>
        </p:txBody>
      </p:sp>
      <p:sp>
        <p:nvSpPr>
          <p:cNvPr id="10" name="Oval 9"/>
          <p:cNvSpPr/>
          <p:nvPr/>
        </p:nvSpPr>
        <p:spPr>
          <a:xfrm>
            <a:off x="2743200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43784" y="1865376"/>
            <a:ext cx="237744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F0A94F"/>
                </a:solidFill>
                <a:latin typeface="Microsoft YaHe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1645920"/>
            <a:ext cx="2697480" cy="4114800"/>
          </a:xfrm>
          <a:prstGeom prst="round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1874519"/>
            <a:ext cx="2011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468880"/>
            <a:ext cx="2148840" cy="2468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写出 SO(3) 小扰动更新关系。</a:t>
            </a:r>
          </a:p>
        </p:txBody>
      </p:sp>
      <p:sp>
        <p:nvSpPr>
          <p:cNvPr id="15" name="Oval 14"/>
          <p:cNvSpPr/>
          <p:nvPr/>
        </p:nvSpPr>
        <p:spPr>
          <a:xfrm>
            <a:off x="5989320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9904" y="1865376"/>
            <a:ext cx="237744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185560"/>
                </a:solidFill>
                <a:latin typeface="Microsoft YaHei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645920"/>
            <a:ext cx="2697480" cy="411480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1874519"/>
            <a:ext cx="2011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沉淀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468880"/>
            <a:ext cx="2148840" cy="2468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准备后续姿态算法对比实验。</a:t>
            </a:r>
          </a:p>
        </p:txBody>
      </p:sp>
      <p:sp>
        <p:nvSpPr>
          <p:cNvPr id="20" name="Oval 19"/>
          <p:cNvSpPr/>
          <p:nvPr/>
        </p:nvSpPr>
        <p:spPr>
          <a:xfrm>
            <a:off x="9235440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36024" y="1865376"/>
            <a:ext cx="237744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F0A94F"/>
                </a:solidFill>
                <a:latin typeface="Microsoft YaHei"/>
              </a:rPr>
              <a:t>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数据融合（一）：ESKF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45720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总结与作业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5074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36192"/>
            <a:ext cx="485546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本讲关键结论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901952"/>
            <a:ext cx="4928616" cy="396849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理解 ESKF 相对 EKF 的建模优势。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掌握误差状态、名义状态和观测更新的基本结构。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理解 SO(3) 扰动模型在姿态估计中的必要性。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63040"/>
            <a:ext cx="5074920" cy="4480560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8" y="1536192"/>
            <a:ext cx="485546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课后任务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2" y="1901952"/>
            <a:ext cx="4928616" cy="396849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完成 ESKF 状态方程笔记。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解释名义状态和误差状态分离的好处。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