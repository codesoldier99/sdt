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CF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274320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000" b="1">
                <a:solidFill>
                  <a:srgbClr val="F0A94F"/>
                </a:solidFill>
                <a:latin typeface="Microsoft YaHei"/>
              </a:rPr>
              <a:t>传感器与检测技术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2880360" cy="12801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</a:rPr>
              <a:t>传感器特性与 Datasheet 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560320"/>
            <a:ext cx="2788920" cy="11887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Microsoft YaHei"/>
              </a:rPr>
              <a:t>指标、噪声与手册解读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069080"/>
            <a:ext cx="1600200" cy="384048"/>
          </a:xfrm>
          <a:prstGeom prst="roundRect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4142232"/>
            <a:ext cx="132588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600" b="1">
                <a:solidFill>
                  <a:srgbClr val="103B43"/>
                </a:solidFill>
                <a:latin typeface="Microsoft YaHei"/>
              </a:rPr>
              <a:t>讲授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709160"/>
            <a:ext cx="237744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600" b="0">
                <a:solidFill>
                  <a:srgbClr val="EFF4F4"/>
                </a:solidFill>
                <a:latin typeface="Microsoft YaHei"/>
              </a:rPr>
              <a:t>第 02 讲</a:t>
            </a:r>
          </a:p>
        </p:txBody>
      </p:sp>
      <p:pic>
        <p:nvPicPr>
          <p:cNvPr id="10" name="Picture 9" descr="lecture-02-characteristics-datashe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1880" y="502920"/>
            <a:ext cx="8092440" cy="55778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977639" y="6199632"/>
            <a:ext cx="722376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0">
                <a:solidFill>
                  <a:srgbClr val="566268"/>
                </a:solidFill>
                <a:latin typeface="Microsoft YaHei"/>
              </a:rPr>
              <a:t>官方授课计划驱动 | 图文并茂版课程课件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4048" y="6400800"/>
            <a:ext cx="11411712" cy="0"/>
          </a:xfrm>
          <a:prstGeom prst="line">
            <a:avLst/>
          </a:prstGeom>
          <a:ln w="15240">
            <a:solidFill>
              <a:srgbClr val="CD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11480" y="6419088"/>
            <a:ext cx="45720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566268"/>
                </a:solidFill>
                <a:latin typeface="Microsoft YaHei"/>
              </a:rPr>
              <a:t>传感器与检测技术 | 2026 Spring | 具身感知工程版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0" y="6419088"/>
            <a:ext cx="128016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000" b="0">
                <a:solidFill>
                  <a:srgbClr val="566268"/>
                </a:solidFill>
                <a:latin typeface="Microsoft YaHei"/>
              </a:rPr>
              <a:t>L02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传感器特性与 Datasheet 分析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109728"/>
            <a:ext cx="2011680" cy="365760"/>
          </a:xfrm>
          <a:prstGeom prst="roundRect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02368" y="146304"/>
            <a:ext cx="16916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800" b="1">
                <a:solidFill>
                  <a:srgbClr val="103B43"/>
                </a:solidFill>
                <a:latin typeface="Microsoft YaHei"/>
              </a:rPr>
              <a:t>讲授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493776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185560"/>
                </a:solidFill>
                <a:latin typeface="Microsoft YaHei"/>
              </a:rPr>
              <a:t>学习目标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98448"/>
            <a:ext cx="5303520" cy="3520440"/>
          </a:xfrm>
          <a:prstGeom prst="rect">
            <a:avLst/>
          </a:prstGeom>
          <a:noFill/>
        </p:spPr>
        <p:txBody>
          <a:bodyPr wrap="square" lIns="73152" rIns="54864" tIns="54864" bIns="54864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232E33"/>
                </a:solidFill>
                <a:latin typeface="Microsoft YaHei"/>
              </a:rPr>
              <a:t>掌握静态特性、动态特性与误差来源的分类方法。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32E33"/>
                </a:solidFill>
                <a:latin typeface="Microsoft YaHei"/>
              </a:rPr>
              <a:t>能够从 Datasheet 中定位关键参数并判断是否满足任务要求。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32E33"/>
                </a:solidFill>
                <a:latin typeface="Microsoft YaHei"/>
              </a:rPr>
              <a:t>理解 Allan 方差与 PSD 在工业 IMU 评估中的作用。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051560"/>
            <a:ext cx="498348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12280" y="1298448"/>
            <a:ext cx="448056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200" b="1">
                <a:solidFill>
                  <a:srgbClr val="185560"/>
                </a:solidFill>
                <a:latin typeface="Microsoft YaHei"/>
              </a:rPr>
              <a:t>能力地图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12280" y="1920240"/>
            <a:ext cx="4160520" cy="658368"/>
          </a:xfrm>
          <a:prstGeom prst="roundRect">
            <a:avLst/>
          </a:prstGeom>
          <a:solidFill>
            <a:srgbClr val="EFF4F4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86016" y="1993392"/>
            <a:ext cx="914400" cy="21945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1">
                <a:solidFill>
                  <a:srgbClr val="F0A94F"/>
                </a:solidFill>
                <a:latin typeface="Microsoft YaHei"/>
              </a:rPr>
              <a:t>理解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1975104"/>
            <a:ext cx="288036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300" b="0">
                <a:solidFill>
                  <a:srgbClr val="232E33"/>
                </a:solidFill>
                <a:latin typeface="Microsoft YaHei"/>
              </a:rPr>
              <a:t>掌握静态特性、动态特性与误差来源的分类方法。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12280" y="2834640"/>
            <a:ext cx="4160520" cy="658368"/>
          </a:xfrm>
          <a:prstGeom prst="roundRect">
            <a:avLst/>
          </a:prstGeom>
          <a:solidFill>
            <a:srgbClr val="EFF4F4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86016" y="2907792"/>
            <a:ext cx="914400" cy="21945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1">
                <a:solidFill>
                  <a:srgbClr val="F0A94F"/>
                </a:solidFill>
                <a:latin typeface="Microsoft YaHei"/>
              </a:rPr>
              <a:t>分析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20" y="2889504"/>
            <a:ext cx="288036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300" b="0">
                <a:solidFill>
                  <a:srgbClr val="232E33"/>
                </a:solidFill>
                <a:latin typeface="Microsoft YaHei"/>
              </a:rPr>
              <a:t>能够从 Datasheet 中定位关键参数并判断是否满足任务要求。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12280" y="3749039"/>
            <a:ext cx="4160520" cy="658368"/>
          </a:xfrm>
          <a:prstGeom prst="roundRect">
            <a:avLst/>
          </a:prstGeom>
          <a:solidFill>
            <a:srgbClr val="EFF4F4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86016" y="3822191"/>
            <a:ext cx="914400" cy="21945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1">
                <a:solidFill>
                  <a:srgbClr val="F0A94F"/>
                </a:solidFill>
                <a:latin typeface="Microsoft YaHei"/>
              </a:rPr>
              <a:t>实施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8120" y="3803903"/>
            <a:ext cx="288036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300" b="0">
                <a:solidFill>
                  <a:srgbClr val="232E33"/>
                </a:solidFill>
                <a:latin typeface="Microsoft YaHei"/>
              </a:rPr>
              <a:t>理解 Allan 方差与 PSD 在工业 IMU 评估中的作用。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84048" y="6400800"/>
            <a:ext cx="11411712" cy="0"/>
          </a:xfrm>
          <a:prstGeom prst="line">
            <a:avLst/>
          </a:prstGeom>
          <a:ln w="15240">
            <a:solidFill>
              <a:srgbClr val="CD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11480" y="6419088"/>
            <a:ext cx="45720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566268"/>
                </a:solidFill>
                <a:latin typeface="Microsoft YaHei"/>
              </a:rPr>
              <a:t>传感器与检测技术 | 2026 Spring | 具身感知工程版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6419088"/>
            <a:ext cx="128016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000" b="0">
                <a:solidFill>
                  <a:srgbClr val="566268"/>
                </a:solidFill>
                <a:latin typeface="Microsoft YaHei"/>
              </a:rPr>
              <a:t>L02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传感器特性与 Datasheet 分析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109728"/>
            <a:ext cx="2011680" cy="365760"/>
          </a:xfrm>
          <a:prstGeom prst="roundRect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02368" y="146304"/>
            <a:ext cx="16916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800" b="1">
                <a:solidFill>
                  <a:srgbClr val="103B43"/>
                </a:solidFill>
                <a:latin typeface="Microsoft YaHei"/>
              </a:rPr>
              <a:t>讲授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54864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185560"/>
                </a:solidFill>
                <a:latin typeface="Microsoft YaHei"/>
              </a:rPr>
              <a:t>理论基础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288036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490472"/>
            <a:ext cx="2660904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85560"/>
                </a:solidFill>
                <a:latin typeface="Microsoft YaHei"/>
              </a:rPr>
              <a:t>概念框架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1856232"/>
            <a:ext cx="2734056" cy="3694176"/>
          </a:xfrm>
          <a:prstGeom prst="rect">
            <a:avLst/>
          </a:prstGeom>
          <a:noFill/>
        </p:spPr>
        <p:txBody>
          <a:bodyPr wrap="square" lIns="73152" rIns="54864" tIns="54864" bIns="54864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零偏、灵敏度、分辨率、迟滞、线性度。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77639" y="1417320"/>
            <a:ext cx="288036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87367" y="1490472"/>
            <a:ext cx="2660904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85560"/>
                </a:solidFill>
                <a:latin typeface="Microsoft YaHei"/>
              </a:rPr>
              <a:t>关键机理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50791" y="1856232"/>
            <a:ext cx="2734056" cy="3694176"/>
          </a:xfrm>
          <a:prstGeom prst="rect">
            <a:avLst/>
          </a:prstGeom>
          <a:noFill/>
        </p:spPr>
        <p:txBody>
          <a:bodyPr wrap="square" lIns="73152" rIns="54864" tIns="54864" bIns="54864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动态带宽、时延、噪声密度与采样率。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06640" y="1417320"/>
            <a:ext cx="288036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16368" y="1490472"/>
            <a:ext cx="2660904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85560"/>
                </a:solidFill>
                <a:latin typeface="Microsoft YaHei"/>
              </a:rPr>
              <a:t>工程约束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79792" y="1856232"/>
            <a:ext cx="2734056" cy="3694176"/>
          </a:xfrm>
          <a:prstGeom prst="rect">
            <a:avLst/>
          </a:prstGeom>
          <a:noFill/>
        </p:spPr>
        <p:txBody>
          <a:bodyPr wrap="square" lIns="73152" rIns="54864" tIns="54864" bIns="54864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Allan Variance 与随机过程的对应关系。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84048" y="6400800"/>
            <a:ext cx="11411712" cy="0"/>
          </a:xfrm>
          <a:prstGeom prst="line">
            <a:avLst/>
          </a:prstGeom>
          <a:ln w="15240">
            <a:solidFill>
              <a:srgbClr val="CD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11480" y="6419088"/>
            <a:ext cx="45720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566268"/>
                </a:solidFill>
                <a:latin typeface="Microsoft YaHei"/>
              </a:rPr>
              <a:t>传感器与检测技术 | 2026 Spring | 具身感知工程版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6419088"/>
            <a:ext cx="128016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000" b="0">
                <a:solidFill>
                  <a:srgbClr val="566268"/>
                </a:solidFill>
                <a:latin typeface="Microsoft YaHei"/>
              </a:rPr>
              <a:t>L02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传感器特性与 Datasheet 分析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109728"/>
            <a:ext cx="2011680" cy="365760"/>
          </a:xfrm>
          <a:prstGeom prst="roundRect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02368" y="146304"/>
            <a:ext cx="16916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800" b="1">
                <a:solidFill>
                  <a:srgbClr val="103B43"/>
                </a:solidFill>
                <a:latin typeface="Microsoft YaHei"/>
              </a:rPr>
              <a:t>讲授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54864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185560"/>
                </a:solidFill>
                <a:latin typeface="Microsoft YaHei"/>
              </a:rPr>
              <a:t>工作原理 / 实施流程</a:t>
            </a:r>
          </a:p>
        </p:txBody>
      </p:sp>
      <p:sp>
        <p:nvSpPr>
          <p:cNvPr id="7" name="Chevron 6"/>
          <p:cNvSpPr/>
          <p:nvPr/>
        </p:nvSpPr>
        <p:spPr>
          <a:xfrm>
            <a:off x="640080" y="2011680"/>
            <a:ext cx="1920240" cy="1051560"/>
          </a:xfrm>
          <a:prstGeom prst="chevron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212848"/>
            <a:ext cx="164592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icrosoft YaHei"/>
              </a:rPr>
              <a:t>1. 先确定任务精度目标。</a:t>
            </a:r>
          </a:p>
        </p:txBody>
      </p:sp>
      <p:sp>
        <p:nvSpPr>
          <p:cNvPr id="9" name="Chevron 8"/>
          <p:cNvSpPr/>
          <p:nvPr/>
        </p:nvSpPr>
        <p:spPr>
          <a:xfrm>
            <a:off x="3154680" y="2011680"/>
            <a:ext cx="1920240" cy="1051560"/>
          </a:xfrm>
          <a:prstGeom prst="chevron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0" y="2212848"/>
            <a:ext cx="164592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icrosoft YaHei"/>
              </a:rPr>
              <a:t>2. 再筛选手册中的关键指标。</a:t>
            </a:r>
          </a:p>
        </p:txBody>
      </p:sp>
      <p:sp>
        <p:nvSpPr>
          <p:cNvPr id="11" name="Chevron 10"/>
          <p:cNvSpPr/>
          <p:nvPr/>
        </p:nvSpPr>
        <p:spPr>
          <a:xfrm>
            <a:off x="5669280" y="2011680"/>
            <a:ext cx="1920240" cy="1051560"/>
          </a:xfrm>
          <a:prstGeom prst="chevron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06440" y="2212848"/>
            <a:ext cx="164592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icrosoft YaHei"/>
              </a:rPr>
              <a:t>3. 通过噪声模型估算长期漂移。</a:t>
            </a:r>
          </a:p>
        </p:txBody>
      </p:sp>
      <p:sp>
        <p:nvSpPr>
          <p:cNvPr id="13" name="Chevron 12"/>
          <p:cNvSpPr/>
          <p:nvPr/>
        </p:nvSpPr>
        <p:spPr>
          <a:xfrm>
            <a:off x="8183879" y="2011680"/>
            <a:ext cx="1920240" cy="1051560"/>
          </a:xfrm>
          <a:prstGeom prst="chevron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2212848"/>
            <a:ext cx="164592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icrosoft YaHei"/>
              </a:rPr>
              <a:t>4. 结合环境条件做冗余设计。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840480"/>
            <a:ext cx="107899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069080"/>
            <a:ext cx="10241280" cy="8229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0">
                <a:solidFill>
                  <a:srgbClr val="232E33"/>
                </a:solidFill>
                <a:latin typeface="Microsoft YaHei"/>
              </a:rPr>
              <a:t>课堂提示：流程图用于帮助学生把“原理、实现、验证”连成闭环，授课时应强调每一步对应的数据证据和常见失败点。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84048" y="6400800"/>
            <a:ext cx="11411712" cy="0"/>
          </a:xfrm>
          <a:prstGeom prst="line">
            <a:avLst/>
          </a:prstGeom>
          <a:ln w="15240">
            <a:solidFill>
              <a:srgbClr val="CD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11480" y="6419088"/>
            <a:ext cx="45720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566268"/>
                </a:solidFill>
                <a:latin typeface="Microsoft YaHei"/>
              </a:rPr>
              <a:t>传感器与检测技术 | 2026 Spring | 具身感知工程版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0" y="6419088"/>
            <a:ext cx="128016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000" b="0">
                <a:solidFill>
                  <a:srgbClr val="566268"/>
                </a:solidFill>
                <a:latin typeface="Microsoft YaHei"/>
              </a:rPr>
              <a:t>L02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传感器特性与 Datasheet 分析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109728"/>
            <a:ext cx="2011680" cy="365760"/>
          </a:xfrm>
          <a:prstGeom prst="roundRect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02368" y="146304"/>
            <a:ext cx="16916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800" b="1">
                <a:solidFill>
                  <a:srgbClr val="103B43"/>
                </a:solidFill>
                <a:latin typeface="Microsoft YaHei"/>
              </a:rPr>
              <a:t>讲授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54864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185560"/>
                </a:solidFill>
                <a:latin typeface="Microsoft YaHei"/>
              </a:rPr>
              <a:t>关键指标与 Datasheet 关注点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463040"/>
          <a:ext cx="694944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6480"/>
                <a:gridCol w="2316480"/>
                <a:gridCol w="2316480"/>
              </a:tblGrid>
              <a:tr h="713232"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  <a:latin typeface="Microsoft YaHei"/>
                        </a:rPr>
                        <a:t>指标</a:t>
                      </a:r>
                    </a:p>
                  </a:txBody>
                  <a:tcPr>
                    <a:solidFill>
                      <a:srgbClr val="1855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  <a:latin typeface="Microsoft YaHei"/>
                        </a:rPr>
                        <a:t>解释</a:t>
                      </a:r>
                    </a:p>
                  </a:txBody>
                  <a:tcPr>
                    <a:solidFill>
                      <a:srgbClr val="1855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  <a:latin typeface="Microsoft YaHei"/>
                        </a:rPr>
                        <a:t>工程意义</a:t>
                      </a:r>
                    </a:p>
                  </a:txBody>
                  <a:tcPr>
                    <a:solidFill>
                      <a:srgbClr val="185560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噪声密度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短时抖动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决定滤波设计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Bias Instability</a:t>
                      </a:r>
                    </a:p>
                  </a:txBody>
                  <a:tcPr>
                    <a:solidFill>
                      <a:srgbClr val="EF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长期漂移</a:t>
                      </a:r>
                    </a:p>
                  </a:txBody>
                  <a:tcPr>
                    <a:solidFill>
                      <a:srgbClr val="EF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决定积分误差</a:t>
                      </a:r>
                    </a:p>
                  </a:txBody>
                  <a:tcPr>
                    <a:solidFill>
                      <a:srgbClr val="EFF4F4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Bandwidth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动态响应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影响运动捕获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Temperature Range</a:t>
                      </a:r>
                    </a:p>
                  </a:txBody>
                  <a:tcPr>
                    <a:solidFill>
                      <a:srgbClr val="EF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环境适应性</a:t>
                      </a:r>
                    </a:p>
                  </a:txBody>
                  <a:tcPr>
                    <a:solidFill>
                      <a:srgbClr val="EF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影响补偿策略</a:t>
                      </a:r>
                    </a:p>
                  </a:txBody>
                  <a:tcPr>
                    <a:solidFill>
                      <a:srgbClr val="EFF4F4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955279" y="1463040"/>
            <a:ext cx="342900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83879" y="1691640"/>
            <a:ext cx="288036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000" b="1">
                <a:solidFill>
                  <a:srgbClr val="F0A94F"/>
                </a:solidFill>
                <a:latin typeface="Microsoft YaHei"/>
              </a:rPr>
              <a:t>教师提醒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3879" y="2148840"/>
            <a:ext cx="2834640" cy="2468880"/>
          </a:xfrm>
          <a:prstGeom prst="rect">
            <a:avLst/>
          </a:prstGeom>
          <a:noFill/>
        </p:spPr>
        <p:txBody>
          <a:bodyPr wrap="square" lIns="73152" rIns="54864" tIns="54864" bIns="54864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不要只解释参数含义，要解释它如何影响系统级结果。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鼓励学生把手册参数与后续实验的测量结果对应起来。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强调典型值、最大值和测试条件的区别。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84048" y="6400800"/>
            <a:ext cx="11411712" cy="0"/>
          </a:xfrm>
          <a:prstGeom prst="line">
            <a:avLst/>
          </a:prstGeom>
          <a:ln w="15240">
            <a:solidFill>
              <a:srgbClr val="CD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11480" y="6419088"/>
            <a:ext cx="45720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566268"/>
                </a:solidFill>
                <a:latin typeface="Microsoft YaHei"/>
              </a:rPr>
              <a:t>传感器与检测技术 | 2026 Spring | 具身感知工程版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419088"/>
            <a:ext cx="128016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000" b="0">
                <a:solidFill>
                  <a:srgbClr val="566268"/>
                </a:solidFill>
                <a:latin typeface="Microsoft YaHei"/>
              </a:rPr>
              <a:t>L02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传感器特性与 Datasheet 分析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109728"/>
            <a:ext cx="2011680" cy="365760"/>
          </a:xfrm>
          <a:prstGeom prst="roundRect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02368" y="146304"/>
            <a:ext cx="16916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800" b="1">
                <a:solidFill>
                  <a:srgbClr val="103B43"/>
                </a:solidFill>
                <a:latin typeface="Microsoft YaHei"/>
              </a:rPr>
              <a:t>讲授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54864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185560"/>
                </a:solidFill>
                <a:latin typeface="Microsoft YaHei"/>
              </a:rPr>
              <a:t>工程案例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63040"/>
            <a:ext cx="4754880" cy="4389120"/>
          </a:xfrm>
          <a:prstGeom prst="roundRect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783080"/>
            <a:ext cx="402336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F0A94F"/>
                </a:solidFill>
                <a:latin typeface="Microsoft YaHei"/>
              </a:rPr>
              <a:t>案例：三款 IMU 手册对比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423160"/>
            <a:ext cx="4069080" cy="2606040"/>
          </a:xfrm>
          <a:prstGeom prst="rect">
            <a:avLst/>
          </a:prstGeom>
          <a:noFill/>
        </p:spPr>
        <p:txBody>
          <a:bodyPr wrap="square" lIns="73152" rIns="54864" tIns="54864" bIns="54864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Microsoft YaHei"/>
              </a:rPr>
              <a:t>消费级 IMU 在噪声和温漂上通常弱于工业级器件。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Microsoft YaHei"/>
              </a:rPr>
              <a:t>高量程不等于高精度，带宽和噪声需同时考量。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Microsoft YaHei"/>
              </a:rPr>
              <a:t>手册中的典型值与最大值都需要关注。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06440" y="1463040"/>
            <a:ext cx="25146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16168" y="1536192"/>
            <a:ext cx="2295144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85560"/>
                </a:solidFill>
                <a:latin typeface="Microsoft YaHei"/>
              </a:rPr>
              <a:t>输入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79592" y="1901952"/>
            <a:ext cx="2368296" cy="1408176"/>
          </a:xfrm>
          <a:prstGeom prst="rect">
            <a:avLst/>
          </a:prstGeom>
          <a:noFill/>
        </p:spPr>
        <p:txBody>
          <a:bodyPr wrap="square" lIns="73152" rIns="54864" tIns="54864" bIns="54864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零偏、灵敏度、分辨率、迟滞、线性度。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动态带宽、时延、噪声密度与采样率。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95360" y="1463040"/>
            <a:ext cx="25146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05088" y="1536192"/>
            <a:ext cx="2295144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85560"/>
                </a:solidFill>
                <a:latin typeface="Microsoft YaHei"/>
              </a:rPr>
              <a:t>输出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68512" y="1901952"/>
            <a:ext cx="2368296" cy="1408176"/>
          </a:xfrm>
          <a:prstGeom prst="rect">
            <a:avLst/>
          </a:prstGeom>
          <a:noFill/>
        </p:spPr>
        <p:txBody>
          <a:bodyPr wrap="square" lIns="73152" rIns="54864" tIns="54864" bIns="54864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完成三款 IMU Datasheet 对比表。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推导 Allan 方差与随机游走项的联系。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06440" y="3657600"/>
            <a:ext cx="5303520" cy="2194560"/>
          </a:xfrm>
          <a:prstGeom prst="roundRect">
            <a:avLst/>
          </a:prstGeom>
          <a:solidFill>
            <a:srgbClr val="EFF4F4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16168" y="3730752"/>
            <a:ext cx="5084064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85560"/>
                </a:solidFill>
                <a:latin typeface="Microsoft YaHei"/>
              </a:rPr>
              <a:t>可视化讲授建议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79592" y="4096512"/>
            <a:ext cx="5157216" cy="1682496"/>
          </a:xfrm>
          <a:prstGeom prst="rect">
            <a:avLst/>
          </a:prstGeom>
          <a:noFill/>
        </p:spPr>
        <p:txBody>
          <a:bodyPr wrap="square" lIns="73152" rIns="54864" tIns="54864" bIns="54864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在这一页配合板书或实物，帮助学生把抽象算法映射到真实系统。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尽量给出一个量化结果，如误差下降、轨迹变稳、响应加快。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84048" y="6400800"/>
            <a:ext cx="11411712" cy="0"/>
          </a:xfrm>
          <a:prstGeom prst="line">
            <a:avLst/>
          </a:prstGeom>
          <a:ln w="15240">
            <a:solidFill>
              <a:srgbClr val="CD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11480" y="6419088"/>
            <a:ext cx="45720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566268"/>
                </a:solidFill>
                <a:latin typeface="Microsoft YaHei"/>
              </a:rPr>
              <a:t>传感器与检测技术 | 2026 Spring | 具身感知工程版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6419088"/>
            <a:ext cx="128016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000" b="0">
                <a:solidFill>
                  <a:srgbClr val="566268"/>
                </a:solidFill>
                <a:latin typeface="Microsoft YaHei"/>
              </a:rPr>
              <a:t>L02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传感器特性与 Datasheet 分析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109728"/>
            <a:ext cx="2011680" cy="365760"/>
          </a:xfrm>
          <a:prstGeom prst="roundRect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02368" y="146304"/>
            <a:ext cx="16916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800" b="1">
                <a:solidFill>
                  <a:srgbClr val="103B43"/>
                </a:solidFill>
                <a:latin typeface="Microsoft YaHei"/>
              </a:rPr>
              <a:t>讲授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54864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185560"/>
                </a:solidFill>
                <a:latin typeface="Microsoft YaHei"/>
              </a:rPr>
              <a:t>实践路径与课堂活动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2697480" cy="4114800"/>
          </a:xfrm>
          <a:prstGeom prst="roundRect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74519"/>
            <a:ext cx="201168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准备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68880"/>
            <a:ext cx="2148840" cy="2468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Microsoft YaHei"/>
              </a:rPr>
              <a:t>完成三款 IMU Datasheet 对比表。</a:t>
            </a:r>
          </a:p>
        </p:txBody>
      </p:sp>
      <p:sp>
        <p:nvSpPr>
          <p:cNvPr id="10" name="Oval 9"/>
          <p:cNvSpPr/>
          <p:nvPr/>
        </p:nvSpPr>
        <p:spPr>
          <a:xfrm>
            <a:off x="2743200" y="178308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43784" y="1865376"/>
            <a:ext cx="237744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600" b="1">
                <a:solidFill>
                  <a:srgbClr val="F0A94F"/>
                </a:solidFill>
                <a:latin typeface="Microsoft YaHei"/>
              </a:rPr>
              <a:t>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77639" y="1645920"/>
            <a:ext cx="2697480" cy="4114800"/>
          </a:xfrm>
          <a:prstGeom prst="roundRect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60520" y="1874519"/>
            <a:ext cx="201168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实施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60520" y="2468880"/>
            <a:ext cx="2148840" cy="2468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Microsoft YaHei"/>
              </a:rPr>
              <a:t>推导 Allan 方差与随机游走项的联系。</a:t>
            </a:r>
          </a:p>
        </p:txBody>
      </p:sp>
      <p:sp>
        <p:nvSpPr>
          <p:cNvPr id="15" name="Oval 14"/>
          <p:cNvSpPr/>
          <p:nvPr/>
        </p:nvSpPr>
        <p:spPr>
          <a:xfrm>
            <a:off x="5989320" y="178308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89904" y="1865376"/>
            <a:ext cx="237744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600" b="1">
                <a:solidFill>
                  <a:srgbClr val="185560"/>
                </a:solidFill>
                <a:latin typeface="Microsoft YaHei"/>
              </a:rPr>
              <a:t>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23760" y="1645920"/>
            <a:ext cx="2697480" cy="4114800"/>
          </a:xfrm>
          <a:prstGeom prst="roundRect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06640" y="1874519"/>
            <a:ext cx="201168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沉淀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2468880"/>
            <a:ext cx="2148840" cy="2468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Microsoft YaHei"/>
              </a:rPr>
              <a:t>为后续标定实验建立指标核对清单。</a:t>
            </a:r>
          </a:p>
        </p:txBody>
      </p:sp>
      <p:sp>
        <p:nvSpPr>
          <p:cNvPr id="20" name="Oval 19"/>
          <p:cNvSpPr/>
          <p:nvPr/>
        </p:nvSpPr>
        <p:spPr>
          <a:xfrm>
            <a:off x="9235440" y="178308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36024" y="1865376"/>
            <a:ext cx="237744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600" b="1">
                <a:solidFill>
                  <a:srgbClr val="F0A94F"/>
                </a:solidFill>
                <a:latin typeface="Microsoft YaHei"/>
              </a:rPr>
              <a:t>3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84048" y="6400800"/>
            <a:ext cx="11411712" cy="0"/>
          </a:xfrm>
          <a:prstGeom prst="line">
            <a:avLst/>
          </a:prstGeom>
          <a:ln w="15240">
            <a:solidFill>
              <a:srgbClr val="CD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11480" y="6419088"/>
            <a:ext cx="45720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566268"/>
                </a:solidFill>
                <a:latin typeface="Microsoft YaHei"/>
              </a:rPr>
              <a:t>传感器与检测技术 | 2026 Spring | 具身感知工程版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0" y="6419088"/>
            <a:ext cx="128016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000" b="0">
                <a:solidFill>
                  <a:srgbClr val="566268"/>
                </a:solidFill>
                <a:latin typeface="Microsoft YaHei"/>
              </a:rPr>
              <a:t>L02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传感器特性与 Datasheet 分析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109728"/>
            <a:ext cx="2011680" cy="365760"/>
          </a:xfrm>
          <a:prstGeom prst="roundRect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02368" y="146304"/>
            <a:ext cx="16916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800" b="1">
                <a:solidFill>
                  <a:srgbClr val="103B43"/>
                </a:solidFill>
                <a:latin typeface="Microsoft YaHei"/>
              </a:rPr>
              <a:t>讲授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45720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185560"/>
                </a:solidFill>
                <a:latin typeface="Microsoft YaHei"/>
              </a:rPr>
              <a:t>总结与作业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63040"/>
            <a:ext cx="50749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536192"/>
            <a:ext cx="4855464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85560"/>
                </a:solidFill>
                <a:latin typeface="Microsoft YaHei"/>
              </a:rPr>
              <a:t>本讲关键结论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1901952"/>
            <a:ext cx="4928616" cy="3968496"/>
          </a:xfrm>
          <a:prstGeom prst="rect">
            <a:avLst/>
          </a:prstGeom>
          <a:noFill/>
        </p:spPr>
        <p:txBody>
          <a:bodyPr wrap="square" lIns="73152" rIns="54864" tIns="54864" bIns="54864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掌握静态特性、动态特性与误差来源的分类方法。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能够从 Datasheet 中定位关键参数并判断是否满足任务要求。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理解 Allan 方差与 PSD 在工业 IMU 评估中的作用。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463040"/>
            <a:ext cx="5074920" cy="4480560"/>
          </a:xfrm>
          <a:prstGeom prst="roundRect">
            <a:avLst/>
          </a:prstGeom>
          <a:solidFill>
            <a:srgbClr val="EFF4F4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36208" y="1536192"/>
            <a:ext cx="4855464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85560"/>
                </a:solidFill>
                <a:latin typeface="Microsoft YaHei"/>
              </a:rPr>
              <a:t>课后任务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99632" y="1901952"/>
            <a:ext cx="4928616" cy="3968496"/>
          </a:xfrm>
          <a:prstGeom prst="rect">
            <a:avLst/>
          </a:prstGeom>
          <a:noFill/>
        </p:spPr>
        <p:txBody>
          <a:bodyPr wrap="square" lIns="73152" rIns="54864" tIns="54864" bIns="54864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提交 IMU 指标对比报告。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解释一个参数为何会影响导航精度。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84048" y="6400800"/>
            <a:ext cx="11411712" cy="0"/>
          </a:xfrm>
          <a:prstGeom prst="line">
            <a:avLst/>
          </a:prstGeom>
          <a:ln w="15240">
            <a:solidFill>
              <a:srgbClr val="CD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11480" y="6419088"/>
            <a:ext cx="45720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566268"/>
                </a:solidFill>
                <a:latin typeface="Microsoft YaHei"/>
              </a:rPr>
              <a:t>传感器与检测技术 | 2026 Spring | 具身感知工程版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6419088"/>
            <a:ext cx="128016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000" b="0">
                <a:solidFill>
                  <a:srgbClr val="566268"/>
                </a:solidFill>
                <a:latin typeface="Microsoft YaHei"/>
              </a:rPr>
              <a:t>L02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