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C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27432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000" b="1">
                <a:solidFill>
                  <a:srgbClr val="F0A94F"/>
                </a:solidFill>
                <a:latin typeface="Microsoft YaHei"/>
              </a:rPr>
              <a:t>传感器与检测技术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2880360" cy="12801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</a:rPr>
              <a:t>实验一：硬件链路打通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560320"/>
            <a:ext cx="2788920" cy="11887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Microsoft YaHei"/>
              </a:rPr>
              <a:t>从上电到数据输出的闭环验证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069080"/>
            <a:ext cx="1600200" cy="384048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4142232"/>
            <a:ext cx="132588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600" b="1">
                <a:solidFill>
                  <a:srgbClr val="103B43"/>
                </a:solidFill>
                <a:latin typeface="Microsoft YaHei"/>
              </a:rPr>
              <a:t>实验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709160"/>
            <a:ext cx="237744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0">
                <a:solidFill>
                  <a:srgbClr val="EFF4F4"/>
                </a:solidFill>
                <a:latin typeface="Microsoft YaHei"/>
              </a:rPr>
              <a:t>第 04 讲</a:t>
            </a:r>
          </a:p>
        </p:txBody>
      </p:sp>
      <p:pic>
        <p:nvPicPr>
          <p:cNvPr id="10" name="Picture 9" descr="lecture-04-hardware-link-l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502920"/>
            <a:ext cx="8092440" cy="55778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977639" y="6199632"/>
            <a:ext cx="722376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566268"/>
                </a:solidFill>
                <a:latin typeface="Microsoft YaHei"/>
              </a:rPr>
              <a:t>官方授课计划驱动 | 图文并茂版课程课件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4048" y="6400800"/>
            <a:ext cx="11411712" cy="0"/>
          </a:xfrm>
          <a:prstGeom prst="line">
            <a:avLst/>
          </a:prstGeom>
          <a:ln w="15240">
            <a:solidFill>
              <a:srgbClr val="CD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11480" y="6419088"/>
            <a:ext cx="4572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566268"/>
                </a:solidFill>
                <a:latin typeface="Microsoft YaHei"/>
              </a:rPr>
              <a:t>传感器与检测技术 | 2026 Spring | 具身感知工程版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6419088"/>
            <a:ext cx="12801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566268"/>
                </a:solidFill>
                <a:latin typeface="Microsoft YaHei"/>
              </a:rPr>
              <a:t>L04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实验一：硬件链路打通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109728"/>
            <a:ext cx="2011680" cy="36576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02368" y="146304"/>
            <a:ext cx="1691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103B43"/>
                </a:solidFill>
                <a:latin typeface="Microsoft YaHei"/>
              </a:rPr>
              <a:t>实验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493776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185560"/>
                </a:solidFill>
                <a:latin typeface="Microsoft YaHei"/>
              </a:rPr>
              <a:t>学习目标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98448"/>
            <a:ext cx="5303520" cy="3520440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232E33"/>
                </a:solidFill>
                <a:latin typeface="Microsoft YaHei"/>
              </a:rPr>
              <a:t>打通电源、总线、驱动、串口显示的最小实验链路。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32E33"/>
                </a:solidFill>
                <a:latin typeface="Microsoft YaHei"/>
              </a:rPr>
              <a:t>掌握常见硬件接线、地址识别与初始化失败的排查方法。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32E33"/>
                </a:solidFill>
                <a:latin typeface="Microsoft YaHei"/>
              </a:rPr>
              <a:t>形成实验报告、代码与截图同步归档的习惯。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051560"/>
            <a:ext cx="498348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12280" y="1298448"/>
            <a:ext cx="448056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200" b="1">
                <a:solidFill>
                  <a:srgbClr val="185560"/>
                </a:solidFill>
                <a:latin typeface="Microsoft YaHei"/>
              </a:rPr>
              <a:t>能力地图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12280" y="1920240"/>
            <a:ext cx="4160520" cy="658368"/>
          </a:xfrm>
          <a:prstGeom prst="roundRect">
            <a:avLst/>
          </a:prstGeom>
          <a:solidFill>
            <a:srgbClr val="EFF4F4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86016" y="1993392"/>
            <a:ext cx="914400" cy="21945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F0A94F"/>
                </a:solidFill>
                <a:latin typeface="Microsoft YaHei"/>
              </a:rPr>
              <a:t>理解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1975104"/>
            <a:ext cx="288036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0">
                <a:solidFill>
                  <a:srgbClr val="232E33"/>
                </a:solidFill>
                <a:latin typeface="Microsoft YaHei"/>
              </a:rPr>
              <a:t>打通电源、总线、驱动、串口显示的最小实验链路。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12280" y="2834640"/>
            <a:ext cx="4160520" cy="658368"/>
          </a:xfrm>
          <a:prstGeom prst="roundRect">
            <a:avLst/>
          </a:prstGeom>
          <a:solidFill>
            <a:srgbClr val="EFF4F4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86016" y="2907792"/>
            <a:ext cx="914400" cy="21945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F0A94F"/>
                </a:solidFill>
                <a:latin typeface="Microsoft YaHei"/>
              </a:rPr>
              <a:t>分析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2889504"/>
            <a:ext cx="288036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0">
                <a:solidFill>
                  <a:srgbClr val="232E33"/>
                </a:solidFill>
                <a:latin typeface="Microsoft YaHei"/>
              </a:rPr>
              <a:t>掌握常见硬件接线、地址识别与初始化失败的排查方法。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12280" y="3749039"/>
            <a:ext cx="4160520" cy="658368"/>
          </a:xfrm>
          <a:prstGeom prst="roundRect">
            <a:avLst/>
          </a:prstGeom>
          <a:solidFill>
            <a:srgbClr val="EFF4F4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86016" y="3822191"/>
            <a:ext cx="914400" cy="21945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F0A94F"/>
                </a:solidFill>
                <a:latin typeface="Microsoft YaHei"/>
              </a:rPr>
              <a:t>实施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3803903"/>
            <a:ext cx="288036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0">
                <a:solidFill>
                  <a:srgbClr val="232E33"/>
                </a:solidFill>
                <a:latin typeface="Microsoft YaHei"/>
              </a:rPr>
              <a:t>形成实验报告、代码与截图同步归档的习惯。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84048" y="6400800"/>
            <a:ext cx="11411712" cy="0"/>
          </a:xfrm>
          <a:prstGeom prst="line">
            <a:avLst/>
          </a:prstGeom>
          <a:ln w="15240">
            <a:solidFill>
              <a:srgbClr val="CD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11480" y="6419088"/>
            <a:ext cx="4572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566268"/>
                </a:solidFill>
                <a:latin typeface="Microsoft YaHei"/>
              </a:rPr>
              <a:t>传感器与检测技术 | 2026 Spring | 具身感知工程版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419088"/>
            <a:ext cx="12801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566268"/>
                </a:solidFill>
                <a:latin typeface="Microsoft YaHei"/>
              </a:rPr>
              <a:t>L04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实验一：硬件链路打通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109728"/>
            <a:ext cx="2011680" cy="36576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02368" y="146304"/>
            <a:ext cx="1691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103B43"/>
                </a:solidFill>
                <a:latin typeface="Microsoft YaHei"/>
              </a:rPr>
              <a:t>实验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54864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185560"/>
                </a:solidFill>
                <a:latin typeface="Microsoft YaHei"/>
              </a:rPr>
              <a:t>理论基础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288036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490472"/>
            <a:ext cx="2660904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85560"/>
                </a:solidFill>
                <a:latin typeface="Microsoft YaHei"/>
              </a:rPr>
              <a:t>概念框架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856232"/>
            <a:ext cx="2734056" cy="3694176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供电与电平兼容。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77639" y="1417320"/>
            <a:ext cx="288036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87367" y="1490472"/>
            <a:ext cx="2660904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85560"/>
                </a:solidFill>
                <a:latin typeface="Microsoft YaHei"/>
              </a:rPr>
              <a:t>关键机理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50791" y="1856232"/>
            <a:ext cx="2734056" cy="3694176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I2C 地址扫描与总线错误分析。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6640" y="1417320"/>
            <a:ext cx="288036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16368" y="1490472"/>
            <a:ext cx="2660904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85560"/>
                </a:solidFill>
                <a:latin typeface="Microsoft YaHei"/>
              </a:rPr>
              <a:t>工程约束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79792" y="1856232"/>
            <a:ext cx="2734056" cy="3694176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串口调试输出的结构化设计。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84048" y="6400800"/>
            <a:ext cx="11411712" cy="0"/>
          </a:xfrm>
          <a:prstGeom prst="line">
            <a:avLst/>
          </a:prstGeom>
          <a:ln w="15240">
            <a:solidFill>
              <a:srgbClr val="CD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11480" y="6419088"/>
            <a:ext cx="4572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566268"/>
                </a:solidFill>
                <a:latin typeface="Microsoft YaHei"/>
              </a:rPr>
              <a:t>传感器与检测技术 | 2026 Spring | 具身感知工程版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6419088"/>
            <a:ext cx="12801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566268"/>
                </a:solidFill>
                <a:latin typeface="Microsoft YaHei"/>
              </a:rPr>
              <a:t>L04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实验一：硬件链路打通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109728"/>
            <a:ext cx="2011680" cy="36576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02368" y="146304"/>
            <a:ext cx="1691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103B43"/>
                </a:solidFill>
                <a:latin typeface="Microsoft YaHei"/>
              </a:rPr>
              <a:t>实验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54864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185560"/>
                </a:solidFill>
                <a:latin typeface="Microsoft YaHei"/>
              </a:rPr>
              <a:t>工作原理 / 实施流程</a:t>
            </a:r>
          </a:p>
        </p:txBody>
      </p:sp>
      <p:sp>
        <p:nvSpPr>
          <p:cNvPr id="7" name="Chevron 6"/>
          <p:cNvSpPr/>
          <p:nvPr/>
        </p:nvSpPr>
        <p:spPr>
          <a:xfrm>
            <a:off x="640080" y="2011680"/>
            <a:ext cx="1920240" cy="1051560"/>
          </a:xfrm>
          <a:prstGeom prst="chevron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212848"/>
            <a:ext cx="164592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</a:rPr>
              <a:t>1. 确认供电和引脚映射。</a:t>
            </a:r>
          </a:p>
        </p:txBody>
      </p:sp>
      <p:sp>
        <p:nvSpPr>
          <p:cNvPr id="9" name="Chevron 8"/>
          <p:cNvSpPr/>
          <p:nvPr/>
        </p:nvSpPr>
        <p:spPr>
          <a:xfrm>
            <a:off x="3154680" y="2011680"/>
            <a:ext cx="1920240" cy="1051560"/>
          </a:xfrm>
          <a:prstGeom prst="chevron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2212848"/>
            <a:ext cx="164592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</a:rPr>
              <a:t>2. 扫描设备地址并识别芯片。</a:t>
            </a:r>
          </a:p>
        </p:txBody>
      </p:sp>
      <p:sp>
        <p:nvSpPr>
          <p:cNvPr id="11" name="Chevron 10"/>
          <p:cNvSpPr/>
          <p:nvPr/>
        </p:nvSpPr>
        <p:spPr>
          <a:xfrm>
            <a:off x="5669280" y="2011680"/>
            <a:ext cx="1920240" cy="1051560"/>
          </a:xfrm>
          <a:prstGeom prst="chevron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06440" y="2212848"/>
            <a:ext cx="164592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</a:rPr>
              <a:t>3. 读取原始寄存器并转换数据。</a:t>
            </a:r>
          </a:p>
        </p:txBody>
      </p:sp>
      <p:sp>
        <p:nvSpPr>
          <p:cNvPr id="13" name="Chevron 12"/>
          <p:cNvSpPr/>
          <p:nvPr/>
        </p:nvSpPr>
        <p:spPr>
          <a:xfrm>
            <a:off x="8183879" y="2011680"/>
            <a:ext cx="1920240" cy="1051560"/>
          </a:xfrm>
          <a:prstGeom prst="chevron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212848"/>
            <a:ext cx="164592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</a:rPr>
              <a:t>4. 输出稳定日志并保存证据。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840480"/>
            <a:ext cx="107899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069080"/>
            <a:ext cx="10241280" cy="8229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232E33"/>
                </a:solidFill>
                <a:latin typeface="Microsoft YaHei"/>
              </a:rPr>
              <a:t>课堂提示：流程图用于帮助学生把“原理、实现、验证”连成闭环，授课时应强调每一步对应的数据证据和常见失败点。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84048" y="6400800"/>
            <a:ext cx="11411712" cy="0"/>
          </a:xfrm>
          <a:prstGeom prst="line">
            <a:avLst/>
          </a:prstGeom>
          <a:ln w="15240">
            <a:solidFill>
              <a:srgbClr val="CD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11480" y="6419088"/>
            <a:ext cx="4572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566268"/>
                </a:solidFill>
                <a:latin typeface="Microsoft YaHei"/>
              </a:rPr>
              <a:t>传感器与检测技术 | 2026 Spring | 具身感知工程版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6419088"/>
            <a:ext cx="12801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566268"/>
                </a:solidFill>
                <a:latin typeface="Microsoft YaHei"/>
              </a:rPr>
              <a:t>L04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实验一：硬件链路打通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109728"/>
            <a:ext cx="2011680" cy="36576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02368" y="146304"/>
            <a:ext cx="1691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103B43"/>
                </a:solidFill>
                <a:latin typeface="Microsoft YaHei"/>
              </a:rPr>
              <a:t>实验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54864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185560"/>
                </a:solidFill>
                <a:latin typeface="Microsoft YaHei"/>
              </a:rPr>
              <a:t>关键指标与 Datasheet 关注点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463040"/>
          <a:ext cx="694944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6480"/>
                <a:gridCol w="2316480"/>
                <a:gridCol w="2316480"/>
              </a:tblGrid>
              <a:tr h="713232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  <a:latin typeface="Microsoft YaHei"/>
                        </a:rPr>
                        <a:t>指标</a:t>
                      </a:r>
                    </a:p>
                  </a:txBody>
                  <a:tcPr>
                    <a:solidFill>
                      <a:srgbClr val="1855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  <a:latin typeface="Microsoft YaHei"/>
                        </a:rPr>
                        <a:t>解释</a:t>
                      </a:r>
                    </a:p>
                  </a:txBody>
                  <a:tcPr>
                    <a:solidFill>
                      <a:srgbClr val="1855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  <a:latin typeface="Microsoft YaHei"/>
                        </a:rPr>
                        <a:t>工程意义</a:t>
                      </a:r>
                    </a:p>
                  </a:txBody>
                  <a:tcPr>
                    <a:solidFill>
                      <a:srgbClr val="185560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识别成功率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芯片是否被稳定发现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反映接线质量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首次出数时间</a:t>
                      </a:r>
                    </a:p>
                  </a:txBody>
                  <a:tcPr>
                    <a:solidFill>
                      <a:srgbClr val="EF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调通效率</a:t>
                      </a:r>
                    </a:p>
                  </a:txBody>
                  <a:tcPr>
                    <a:solidFill>
                      <a:srgbClr val="EF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反映实验准备度</a:t>
                      </a:r>
                    </a:p>
                  </a:txBody>
                  <a:tcPr>
                    <a:solidFill>
                      <a:srgbClr val="EFF4F4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串口稳定性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输出是否连续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反映程序健壮性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记录完整性</a:t>
                      </a:r>
                    </a:p>
                  </a:txBody>
                  <a:tcPr>
                    <a:solidFill>
                      <a:srgbClr val="EF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代码与截图是否归档</a:t>
                      </a:r>
                    </a:p>
                  </a:txBody>
                  <a:tcPr>
                    <a:solidFill>
                      <a:srgbClr val="EF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反映工程习惯</a:t>
                      </a:r>
                    </a:p>
                  </a:txBody>
                  <a:tcPr>
                    <a:solidFill>
                      <a:srgbClr val="EFF4F4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955279" y="1463040"/>
            <a:ext cx="34290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83879" y="1691640"/>
            <a:ext cx="288036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000" b="1">
                <a:solidFill>
                  <a:srgbClr val="F0A94F"/>
                </a:solidFill>
                <a:latin typeface="Microsoft YaHei"/>
              </a:rPr>
              <a:t>教师提醒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2148840"/>
            <a:ext cx="2834640" cy="2468880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不要只解释参数含义，要解释它如何影响系统级结果。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鼓励学生把手册参数与后续实验的测量结果对应起来。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强调典型值、最大值和测试条件的区别。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84048" y="6400800"/>
            <a:ext cx="11411712" cy="0"/>
          </a:xfrm>
          <a:prstGeom prst="line">
            <a:avLst/>
          </a:prstGeom>
          <a:ln w="15240">
            <a:solidFill>
              <a:srgbClr val="CD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11480" y="6419088"/>
            <a:ext cx="4572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566268"/>
                </a:solidFill>
                <a:latin typeface="Microsoft YaHei"/>
              </a:rPr>
              <a:t>传感器与检测技术 | 2026 Spring | 具身感知工程版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419088"/>
            <a:ext cx="12801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566268"/>
                </a:solidFill>
                <a:latin typeface="Microsoft YaHei"/>
              </a:rPr>
              <a:t>L04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实验一：硬件链路打通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109728"/>
            <a:ext cx="2011680" cy="36576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02368" y="146304"/>
            <a:ext cx="1691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103B43"/>
                </a:solidFill>
                <a:latin typeface="Microsoft YaHei"/>
              </a:rPr>
              <a:t>实验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54864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185560"/>
                </a:solidFill>
                <a:latin typeface="Microsoft YaHei"/>
              </a:rPr>
              <a:t>工程案例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63040"/>
            <a:ext cx="4754880" cy="4389120"/>
          </a:xfrm>
          <a:prstGeom prst="round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83080"/>
            <a:ext cx="402336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F0A94F"/>
                </a:solidFill>
                <a:latin typeface="Microsoft YaHei"/>
              </a:rPr>
              <a:t>案例：I2C 无法识别的排障树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423160"/>
            <a:ext cx="4069080" cy="2606040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优先检查供电与地线，再检查上拉与地址位配置。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利用地址扫描和逻辑分析缩小问题范围。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将排障过程本身写入实验资产。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06440" y="1463040"/>
            <a:ext cx="25146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16168" y="1536192"/>
            <a:ext cx="2295144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85560"/>
                </a:solidFill>
                <a:latin typeface="Microsoft YaHei"/>
              </a:rPr>
              <a:t>输入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79592" y="1901952"/>
            <a:ext cx="2368296" cy="1408176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供电与电平兼容。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I2C 地址扫描与总线错误分析。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95360" y="1463040"/>
            <a:ext cx="25146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05088" y="1536192"/>
            <a:ext cx="2295144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85560"/>
                </a:solidFill>
                <a:latin typeface="Microsoft YaHei"/>
              </a:rPr>
              <a:t>输出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68512" y="1901952"/>
            <a:ext cx="2368296" cy="1408176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完成地址扫描、芯片识别与原始数据读取。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记录一次初始化失败并复盘排障步骤。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06440" y="3657600"/>
            <a:ext cx="5303520" cy="2194560"/>
          </a:xfrm>
          <a:prstGeom prst="roundRect">
            <a:avLst/>
          </a:prstGeom>
          <a:solidFill>
            <a:srgbClr val="EFF4F4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16168" y="3730752"/>
            <a:ext cx="5084064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85560"/>
                </a:solidFill>
                <a:latin typeface="Microsoft YaHei"/>
              </a:rPr>
              <a:t>可视化讲授建议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79592" y="4096512"/>
            <a:ext cx="5157216" cy="1682496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在这一页配合板书或实物，帮助学生把抽象算法映射到真实系统。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尽量给出一个量化结果，如误差下降、轨迹变稳、响应加快。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84048" y="6400800"/>
            <a:ext cx="11411712" cy="0"/>
          </a:xfrm>
          <a:prstGeom prst="line">
            <a:avLst/>
          </a:prstGeom>
          <a:ln w="15240">
            <a:solidFill>
              <a:srgbClr val="CD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11480" y="6419088"/>
            <a:ext cx="4572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566268"/>
                </a:solidFill>
                <a:latin typeface="Microsoft YaHei"/>
              </a:rPr>
              <a:t>传感器与检测技术 | 2026 Spring | 具身感知工程版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419088"/>
            <a:ext cx="12801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566268"/>
                </a:solidFill>
                <a:latin typeface="Microsoft YaHei"/>
              </a:rPr>
              <a:t>L04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实验一：硬件链路打通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109728"/>
            <a:ext cx="2011680" cy="36576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02368" y="146304"/>
            <a:ext cx="1691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103B43"/>
                </a:solidFill>
                <a:latin typeface="Microsoft YaHei"/>
              </a:rPr>
              <a:t>实验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54864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185560"/>
                </a:solidFill>
                <a:latin typeface="Microsoft YaHei"/>
              </a:rPr>
              <a:t>实践路径与课堂活动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2697480" cy="411480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74519"/>
            <a:ext cx="201168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准备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68880"/>
            <a:ext cx="2148840" cy="2468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Microsoft YaHei"/>
              </a:rPr>
              <a:t>完成地址扫描、芯片识别与原始数据读取。</a:t>
            </a:r>
          </a:p>
        </p:txBody>
      </p:sp>
      <p:sp>
        <p:nvSpPr>
          <p:cNvPr id="10" name="Oval 9"/>
          <p:cNvSpPr/>
          <p:nvPr/>
        </p:nvSpPr>
        <p:spPr>
          <a:xfrm>
            <a:off x="2743200" y="178308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43784" y="1865376"/>
            <a:ext cx="237744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600" b="1">
                <a:solidFill>
                  <a:srgbClr val="F0A94F"/>
                </a:solidFill>
                <a:latin typeface="Microsoft YaHei"/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77639" y="1645920"/>
            <a:ext cx="2697480" cy="4114800"/>
          </a:xfrm>
          <a:prstGeom prst="round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60520" y="1874519"/>
            <a:ext cx="201168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2468880"/>
            <a:ext cx="2148840" cy="2468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Microsoft YaHei"/>
              </a:rPr>
              <a:t>记录一次初始化失败并复盘排障步骤。</a:t>
            </a:r>
          </a:p>
        </p:txBody>
      </p:sp>
      <p:sp>
        <p:nvSpPr>
          <p:cNvPr id="15" name="Oval 14"/>
          <p:cNvSpPr/>
          <p:nvPr/>
        </p:nvSpPr>
        <p:spPr>
          <a:xfrm>
            <a:off x="5989320" y="178308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89904" y="1865376"/>
            <a:ext cx="237744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600" b="1">
                <a:solidFill>
                  <a:srgbClr val="185560"/>
                </a:solidFill>
                <a:latin typeface="Microsoft YaHei"/>
              </a:rPr>
              <a:t>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0" y="1645920"/>
            <a:ext cx="2697480" cy="411480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0" y="1874519"/>
            <a:ext cx="201168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沉淀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2468880"/>
            <a:ext cx="2148840" cy="2468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Microsoft YaHei"/>
              </a:rPr>
              <a:t>上传实验代码、照片和串口输出截图。</a:t>
            </a:r>
          </a:p>
        </p:txBody>
      </p:sp>
      <p:sp>
        <p:nvSpPr>
          <p:cNvPr id="20" name="Oval 19"/>
          <p:cNvSpPr/>
          <p:nvPr/>
        </p:nvSpPr>
        <p:spPr>
          <a:xfrm>
            <a:off x="9235440" y="178308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36024" y="1865376"/>
            <a:ext cx="237744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600" b="1">
                <a:solidFill>
                  <a:srgbClr val="F0A94F"/>
                </a:solidFill>
                <a:latin typeface="Microsoft YaHei"/>
              </a:rPr>
              <a:t>3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84048" y="6400800"/>
            <a:ext cx="11411712" cy="0"/>
          </a:xfrm>
          <a:prstGeom prst="line">
            <a:avLst/>
          </a:prstGeom>
          <a:ln w="15240">
            <a:solidFill>
              <a:srgbClr val="CD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11480" y="6419088"/>
            <a:ext cx="4572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566268"/>
                </a:solidFill>
                <a:latin typeface="Microsoft YaHei"/>
              </a:rPr>
              <a:t>传感器与检测技术 | 2026 Spring | 具身感知工程版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6419088"/>
            <a:ext cx="12801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566268"/>
                </a:solidFill>
                <a:latin typeface="Microsoft YaHei"/>
              </a:rPr>
              <a:t>L04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实验一：硬件链路打通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109728"/>
            <a:ext cx="2011680" cy="36576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02368" y="146304"/>
            <a:ext cx="1691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103B43"/>
                </a:solidFill>
                <a:latin typeface="Microsoft YaHei"/>
              </a:rPr>
              <a:t>实验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45720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185560"/>
                </a:solidFill>
                <a:latin typeface="Microsoft YaHei"/>
              </a:rPr>
              <a:t>总结与作业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63040"/>
            <a:ext cx="50749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536192"/>
            <a:ext cx="4855464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85560"/>
                </a:solidFill>
                <a:latin typeface="Microsoft YaHei"/>
              </a:rPr>
              <a:t>本讲关键结论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901952"/>
            <a:ext cx="4928616" cy="3968496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打通电源、总线、驱动、串口显示的最小实验链路。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掌握常见硬件接线、地址识别与初始化失败的排查方法。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形成实验报告、代码与截图同步归档的习惯。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463040"/>
            <a:ext cx="5074920" cy="4480560"/>
          </a:xfrm>
          <a:prstGeom prst="roundRect">
            <a:avLst/>
          </a:prstGeom>
          <a:solidFill>
            <a:srgbClr val="EFF4F4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36208" y="1536192"/>
            <a:ext cx="4855464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85560"/>
                </a:solidFill>
                <a:latin typeface="Microsoft YaHei"/>
              </a:rPr>
              <a:t>课后任务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99632" y="1901952"/>
            <a:ext cx="4928616" cy="3968496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提交实验报告。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总结三类最常见硬件链路故障。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84048" y="6400800"/>
            <a:ext cx="11411712" cy="0"/>
          </a:xfrm>
          <a:prstGeom prst="line">
            <a:avLst/>
          </a:prstGeom>
          <a:ln w="15240">
            <a:solidFill>
              <a:srgbClr val="CD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11480" y="6419088"/>
            <a:ext cx="4572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566268"/>
                </a:solidFill>
                <a:latin typeface="Microsoft YaHei"/>
              </a:rPr>
              <a:t>传感器与检测技术 | 2026 Spring | 具身感知工程版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6419088"/>
            <a:ext cx="12801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566268"/>
                </a:solidFill>
                <a:latin typeface="Microsoft YaHei"/>
              </a:rPr>
              <a:t>L04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