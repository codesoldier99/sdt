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C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传感器与检测技术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880360" cy="12801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</a:rPr>
              <a:t>驱动开发与 AI 协作范式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603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嵌入式驱动链路与协作式开发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069080"/>
            <a:ext cx="1600200" cy="384048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4142232"/>
            <a:ext cx="1325880" cy="182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709160"/>
            <a:ext cx="237744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0">
                <a:solidFill>
                  <a:srgbClr val="EFF4F4"/>
                </a:solidFill>
                <a:latin typeface="Microsoft YaHei"/>
              </a:rPr>
              <a:t>第 03 讲</a:t>
            </a:r>
          </a:p>
        </p:txBody>
      </p:sp>
      <p:pic>
        <p:nvPicPr>
          <p:cNvPr id="10" name="Picture 9" descr="lecture-03-driver-ai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502920"/>
            <a:ext cx="8092440" cy="5577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7639" y="6199632"/>
            <a:ext cx="72237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200" b="0">
                <a:solidFill>
                  <a:srgbClr val="566268"/>
                </a:solidFill>
                <a:latin typeface="Microsoft YaHei"/>
              </a:rPr>
              <a:t>官方授课计划驱动 | 图文并茂版课程课件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驱动开发与 AI 协作范式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9377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学习目标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5303520" cy="35204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掌握 ESP32 传感器驱动的基本结构与寄存器级调试流程。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理解 AI 工具在代码骨架生成、文档整理和排错中的边界。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32E33"/>
                </a:solidFill>
                <a:latin typeface="Microsoft YaHei"/>
              </a:rPr>
              <a:t>建立驱动、实验报告和版本管理之间的统一协作流程。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051560"/>
            <a:ext cx="49834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2280" y="1298448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185560"/>
                </a:solidFill>
                <a:latin typeface="Microsoft YaHei"/>
              </a:rPr>
              <a:t>能力地图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19202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86016" y="19933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理解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19751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掌握 ESP32 传感器驱动的基本结构与寄存器级调试流程。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2834640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86016" y="2907792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9504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理解 AI 工具在代码骨架生成、文档整理和排错中的边界。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3749039"/>
            <a:ext cx="4160520" cy="658368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86016" y="3822191"/>
            <a:ext cx="914400" cy="219456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0A94F"/>
                </a:solidFill>
                <a:latin typeface="Microsoft YaHei"/>
              </a:rPr>
              <a:t>实施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803903"/>
            <a:ext cx="288036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300" b="0">
                <a:solidFill>
                  <a:srgbClr val="232E33"/>
                </a:solidFill>
                <a:latin typeface="Microsoft YaHei"/>
              </a:rPr>
              <a:t>建立驱动、实验报告和版本管理之间的统一协作流程。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驱动开发与 AI 协作范式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概念框架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总线接口：I2C、SPI、UART 的适用场景。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7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关键机理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0791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驱动分层：寄存器定义、数据读取、标定补偿与应用接口。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28803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16368" y="1490472"/>
            <a:ext cx="266090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工程约束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56232"/>
            <a:ext cx="2734056" cy="3694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AI 协作工具在嵌入式开发中的高价值环节。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驱动开发与 AI 协作范式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工作原理 / 实施流程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1. 阅读手册与时序图。</a:t>
            </a:r>
          </a:p>
        </p:txBody>
      </p:sp>
      <p:sp>
        <p:nvSpPr>
          <p:cNvPr id="9" name="Chevron 8"/>
          <p:cNvSpPr/>
          <p:nvPr/>
        </p:nvSpPr>
        <p:spPr>
          <a:xfrm>
            <a:off x="3154680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2. 搭建最小驱动骨架。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669280" y="2011680"/>
            <a:ext cx="1920240" cy="1051560"/>
          </a:xfrm>
          <a:prstGeom prst="chevron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064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3. 通过逻辑分析或串口日志验证。</a:t>
            </a:r>
          </a:p>
        </p:txBody>
      </p:sp>
      <p:sp>
        <p:nvSpPr>
          <p:cNvPr id="13" name="Chevron 12"/>
          <p:cNvSpPr/>
          <p:nvPr/>
        </p:nvSpPr>
        <p:spPr>
          <a:xfrm>
            <a:off x="8183879" y="2011680"/>
            <a:ext cx="1920240" cy="1051560"/>
          </a:xfrm>
          <a:prstGeom prst="chevron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212848"/>
            <a:ext cx="164592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4. 再用 AI 辅助补全文档与测试。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40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10241280" cy="8229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232E33"/>
                </a:solidFill>
                <a:latin typeface="Microsoft YaHei"/>
              </a:rPr>
              <a:t>课堂提示：流程图用于帮助学生把“原理、实现、验证”连成闭环，授课时应强调每一步对应的数据证据和常见失败点。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驱动开发与 AI 协作范式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关键指标与 Datasheet 关注点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6480"/>
                <a:gridCol w="2316480"/>
                <a:gridCol w="2316480"/>
              </a:tblGrid>
              <a:tr h="713232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Microsoft YaHei"/>
                        </a:rPr>
                        <a:t>工程意义</a:t>
                      </a:r>
                    </a:p>
                  </a:txBody>
                  <a:tcPr>
                    <a:solidFill>
                      <a:srgbClr val="18556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初始化成功率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上电与识别是否稳定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决定可调试性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总线吞吐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采样能力上限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影响实时性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代码可维护性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模块边界是否清晰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影响后续扩展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日志可读性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定位问题效率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32E33"/>
                          </a:solidFill>
                          <a:latin typeface="Microsoft YaHei"/>
                        </a:rPr>
                        <a:t>影响实验节奏</a:t>
                      </a:r>
                    </a:p>
                  </a:txBody>
                  <a:tcPr>
                    <a:solidFill>
                      <a:srgbClr val="EFF4F4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955279" y="1463040"/>
            <a:ext cx="3429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28803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0A94F"/>
                </a:solidFill>
                <a:latin typeface="Microsoft YaHei"/>
              </a:rPr>
              <a:t>教师提醒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148840"/>
            <a:ext cx="2834640" cy="246888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不要只解释参数含义，要解释它如何影响系统级结果。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鼓励学生把手册参数与后续实验的测量结果对应起来。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强调典型值、最大值和测试条件的区别。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驱动开发与 AI 协作范式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工程案例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4754880" cy="438912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023360" cy="4572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F0A94F"/>
                </a:solidFill>
                <a:latin typeface="Microsoft YaHei"/>
              </a:rPr>
              <a:t>案例：用 AI 生成寄存器驱动骨架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069080" cy="2606040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AI 可以快速生成读写框架，但寄存器地址和时序必须人工核对。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调试日志模板和错误码设计适合交给 AI 加速。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关键验证仍是硬件链路和示波器结果。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1616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959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总线接口：I2C、SPI、UART 的适用场景。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驱动分层：寄存器定义、数据读取、标定补偿与应用接口。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463040"/>
            <a:ext cx="2514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536192"/>
            <a:ext cx="229514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68512" y="1901952"/>
            <a:ext cx="2368296" cy="140817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 ESP32 工程模板与日志输出模块。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尝试用 AI 生成寄存器读写框架并人工审查。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6440" y="3657600"/>
            <a:ext cx="5303520" cy="2194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3730752"/>
            <a:ext cx="50840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可视化讲授建议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4096512"/>
            <a:ext cx="5157216" cy="1682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在这一页配合板书或实物，帮助学生把抽象算法映射到真实系统。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尽量给出一个量化结果，如误差下降、轨迹变稳、响应加快。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驱动开发与 AI 协作范式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54864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实践路径与课堂活动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准备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建立 ESP32 工程模板与日志输出模块。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378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1645920"/>
            <a:ext cx="2697480" cy="4114800"/>
          </a:xfrm>
          <a:prstGeom prst="round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尝试用 AI 生成寄存器读写框架并人工审查。</a:t>
            </a:r>
          </a:p>
        </p:txBody>
      </p:sp>
      <p:sp>
        <p:nvSpPr>
          <p:cNvPr id="15" name="Oval 14"/>
          <p:cNvSpPr/>
          <p:nvPr/>
        </p:nvSpPr>
        <p:spPr>
          <a:xfrm>
            <a:off x="598932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185560"/>
                </a:solidFill>
                <a:latin typeface="Microsoft YaHe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1645920"/>
            <a:ext cx="2697480" cy="411480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1874519"/>
            <a:ext cx="20116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</a:rPr>
              <a:t>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468880"/>
            <a:ext cx="2148840" cy="24688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Microsoft YaHei"/>
              </a:rPr>
              <a:t>提交一版最小驱动仓库结构。</a:t>
            </a:r>
          </a:p>
        </p:txBody>
      </p:sp>
      <p:sp>
        <p:nvSpPr>
          <p:cNvPr id="20" name="Oval 19"/>
          <p:cNvSpPr/>
          <p:nvPr/>
        </p:nvSpPr>
        <p:spPr>
          <a:xfrm>
            <a:off x="9235440" y="17830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1865376"/>
            <a:ext cx="237744" cy="1645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0A94F"/>
                </a:solidFill>
                <a:latin typeface="Microsoft YaHei"/>
              </a:rPr>
              <a:t>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85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</a:rPr>
              <a:t>驱动开发与 AI 协作范式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46920" y="109728"/>
            <a:ext cx="2011680" cy="365760"/>
          </a:xfrm>
          <a:prstGeom prst="roundRect">
            <a:avLst/>
          </a:prstGeom>
          <a:solidFill>
            <a:srgbClr val="F0A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02368" y="146304"/>
            <a:ext cx="1691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/>
            <a:r>
              <a:rPr sz="1800" b="1">
                <a:solidFill>
                  <a:srgbClr val="103B43"/>
                </a:solidFill>
                <a:latin typeface="Microsoft YaHei"/>
              </a:rPr>
              <a:t>讲授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457200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185560"/>
                </a:solidFill>
                <a:latin typeface="Microsoft YaHei"/>
              </a:rPr>
              <a:t>总结与作业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本讲关键结论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掌握 ESP32 传感器驱动的基本结构与寄存器级调试流程。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理解 AI 工具在代码骨架生成、文档整理和排错中的边界。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建立驱动、实验报告和版本管理之间的统一协作流程。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63040"/>
            <a:ext cx="5074920" cy="4480560"/>
          </a:xfrm>
          <a:prstGeom prst="roundRect">
            <a:avLst/>
          </a:prstGeom>
          <a:solidFill>
            <a:srgbClr val="EFF4F4"/>
          </a:solidFill>
          <a:ln>
            <a:solidFill>
              <a:srgbClr val="CDD7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536192"/>
            <a:ext cx="4855464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800" b="1">
                <a:solidFill>
                  <a:srgbClr val="185560"/>
                </a:solidFill>
                <a:latin typeface="Microsoft YaHei"/>
              </a:rPr>
              <a:t>课后任务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901952"/>
            <a:ext cx="4928616" cy="3968496"/>
          </a:xfrm>
          <a:prstGeom prst="rect">
            <a:avLst/>
          </a:prstGeom>
          <a:noFill/>
        </p:spPr>
        <p:txBody>
          <a:bodyPr wrap="square" lIns="73152" rIns="54864" tIns="54864" bIns="54864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整理一次 AI 协作开发的得失。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32E33"/>
                </a:solidFill>
                <a:latin typeface="Microsoft YaHei"/>
              </a:rPr>
              <a:t>补全一个传感器驱动的错误处理流程图。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" y="6400800"/>
            <a:ext cx="11411712" cy="0"/>
          </a:xfrm>
          <a:prstGeom prst="line">
            <a:avLst/>
          </a:prstGeom>
          <a:ln w="15240">
            <a:solidFill>
              <a:srgbClr val="CDD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419088"/>
            <a:ext cx="457200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/>
            <a:r>
              <a:rPr sz="1000" b="0">
                <a:solidFill>
                  <a:srgbClr val="566268"/>
                </a:solidFill>
                <a:latin typeface="Microsoft YaHei"/>
              </a:rPr>
              <a:t>传感器与检测技术 | 2026 Spring | 具身感知工程版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6419088"/>
            <a:ext cx="128016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/>
            <a:r>
              <a:rPr sz="1000" b="0">
                <a:solidFill>
                  <a:srgbClr val="566268"/>
                </a:solidFill>
                <a:latin typeface="Microsoft YaHei"/>
              </a:rPr>
              <a:t>L03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